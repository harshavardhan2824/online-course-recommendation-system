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drawings/drawing1.xml" ContentType="application/vnd.openxmlformats-officedocument.drawingml.chartshape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3" r:id="rId23"/>
    <p:sldId id="277" r:id="rId24"/>
    <p:sldId id="278" r:id="rId25"/>
    <p:sldId id="279" r:id="rId26"/>
    <p:sldId id="280" r:id="rId27"/>
    <p:sldId id="281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Enrollments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F1B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Graphic Design w/ Canva</c:v>
                </c:pt>
                <c:pt idx="1">
                  <c:v>Cybersecurity Essentials</c:v>
                </c:pt>
                <c:pt idx="2">
                  <c:v>DevOps &amp; CI/CD</c:v>
                </c:pt>
                <c:pt idx="3">
                  <c:v>Machine Learning Basics</c:v>
                </c:pt>
                <c:pt idx="4">
                  <c:v>Digital Marketing</c:v>
                </c:pt>
                <c:pt idx="5">
                  <c:v>Python for Beginners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7250</c:v>
                </c:pt>
                <c:pt idx="1">
                  <c:v>6480</c:v>
                </c:pt>
                <c:pt idx="2">
                  <c:v>6210</c:v>
                </c:pt>
                <c:pt idx="3">
                  <c:v>6050</c:v>
                </c:pt>
                <c:pt idx="4">
                  <c:v>5680</c:v>
                </c:pt>
                <c:pt idx="5">
                  <c:v>5420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D6-44BD-BAB0-B3387325EA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1B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4DEF7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4C1D9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968-4BCE-8A1F-E83FDA3907FB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968-4BCE-8A1F-E83FDA3907FB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968-4BCE-8A1F-E83FDA3907F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1B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Beginner</c:v>
                </c:pt>
                <c:pt idx="1">
                  <c:v>Intermediate</c:v>
                </c:pt>
                <c:pt idx="2">
                  <c:v>Advanced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48000</c:v>
                </c:pt>
                <c:pt idx="1">
                  <c:v>33000</c:v>
                </c:pt>
                <c:pt idx="2">
                  <c:v>19000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968-4BCE-8A1F-E83FDA3907F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B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DEF7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Certification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1BA-437B-9AC9-845216616908}"/>
              </c:ext>
            </c:extLst>
          </c:dPt>
          <c:dPt>
            <c:idx val="1"/>
            <c:bubble3D val="0"/>
            <c:spPr>
              <a:solidFill>
                <a:srgbClr val="E4DE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1BA-437B-9AC9-845216616908}"/>
              </c:ext>
            </c:extLst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1BA-437B-9AC9-845216616908}"/>
                </c:ext>
              </c:extLst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1BA-437B-9AC9-845216616908}"/>
                </c:ext>
              </c:extLst>
            </c:dLbl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Certified</c:v>
                </c:pt>
                <c:pt idx="1">
                  <c:v>Not Certified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1BA-437B-9AC9-8452166169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1B2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4C1D95"/>
            </a:solidFill>
            <a:effectLst/>
          </c:spPr>
          <c:invertIfNegative val="0"/>
          <c:cat>
            <c:strRef>
              <c:f>Sheet1!$A$2:$A$9</c:f>
              <c:strCache>
                <c:ptCount val="8"/>
                <c:pt idx="0">
                  <c:v>1–1.5</c:v>
                </c:pt>
                <c:pt idx="1">
                  <c:v>1.5–2</c:v>
                </c:pt>
                <c:pt idx="2">
                  <c:v>2–2.5</c:v>
                </c:pt>
                <c:pt idx="3">
                  <c:v>2.5–3</c:v>
                </c:pt>
                <c:pt idx="4">
                  <c:v>3–3.5</c:v>
                </c:pt>
                <c:pt idx="5">
                  <c:v>3.5–4</c:v>
                </c:pt>
                <c:pt idx="6">
                  <c:v>4–4.5</c:v>
                </c:pt>
                <c:pt idx="7">
                  <c:v>4.5–5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1200</c:v>
                </c:pt>
                <c:pt idx="1">
                  <c:v>2000</c:v>
                </c:pt>
                <c:pt idx="2">
                  <c:v>3500</c:v>
                </c:pt>
                <c:pt idx="3">
                  <c:v>6000</c:v>
                </c:pt>
                <c:pt idx="4">
                  <c:v>11000</c:v>
                </c:pt>
                <c:pt idx="5">
                  <c:v>22000</c:v>
                </c:pt>
                <c:pt idx="6">
                  <c:v>28000</c:v>
                </c:pt>
                <c:pt idx="7">
                  <c:v>26300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BF-4C2C-B0A6-4B0F2B22C2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1F1B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DEF7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$0-50</c:v>
                </c:pt>
                <c:pt idx="1">
                  <c:v>$50-100</c:v>
                </c:pt>
                <c:pt idx="2">
                  <c:v>$100-150</c:v>
                </c:pt>
                <c:pt idx="3">
                  <c:v>$150-200</c:v>
                </c:pt>
                <c:pt idx="4">
                  <c:v>$200-250</c:v>
                </c:pt>
                <c:pt idx="5">
                  <c:v>$250-300</c:v>
                </c:pt>
                <c:pt idx="6">
                  <c:v>$300-350</c:v>
                </c:pt>
                <c:pt idx="7">
                  <c:v>$350-400</c:v>
                </c:pt>
                <c:pt idx="8">
                  <c:v>$400-450</c:v>
                </c:pt>
                <c:pt idx="9">
                  <c:v>$450-500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10400</c:v>
                </c:pt>
                <c:pt idx="1">
                  <c:v>9800</c:v>
                </c:pt>
                <c:pt idx="2">
                  <c:v>10100</c:v>
                </c:pt>
                <c:pt idx="3">
                  <c:v>9600</c:v>
                </c:pt>
                <c:pt idx="4">
                  <c:v>10200</c:v>
                </c:pt>
                <c:pt idx="5">
                  <c:v>9900</c:v>
                </c:pt>
                <c:pt idx="6">
                  <c:v>10000</c:v>
                </c:pt>
                <c:pt idx="7">
                  <c:v>9700</c:v>
                </c:pt>
                <c:pt idx="8">
                  <c:v>10100</c:v>
                </c:pt>
                <c:pt idx="9">
                  <c:v>10200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AB-4EA2-A4D1-3A74082D70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1F1B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DEF7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4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480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6B6480"/>
                    </a:solidFill>
                    <a:latin typeface="Arial"/>
                  </a:rPr>
                  <a:t>Feedback Score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1B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E4DEF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480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6B6480"/>
                    </a:solidFill>
                    <a:latin typeface="Arial"/>
                  </a:rPr>
                  <a:t>Rating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1B2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  <c:userShapes r:id="rId2"/>
</c:chartSpac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pic>
      <cdr:nvPicPr>
        <cdr:cNvPr id="3" name="chart">
          <a:extLst xmlns:a="http://schemas.openxmlformats.org/drawingml/2006/main">
            <a:ext uri="{FF2B5EF4-FFF2-40B4-BE49-F238E27FC236}">
              <a16:creationId xmlns:a16="http://schemas.microsoft.com/office/drawing/2014/main" id="{F198C725-0CFB-0DAD-2DC7-911425FF7C22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0" y="0"/>
          <a:ext cx="9790476" cy="6676190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2159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B2E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4C1D95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7C3AED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 ·  GROUP 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Course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System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course recommendation engine built with Content-Based and Collaborative Filtering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109728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63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 ·  Mentor: Diptarko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BEHIND THE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 &amp; Team Members</a:t>
            </a:r>
            <a:endParaRPr lang="en-US" sz="3000" dirty="0"/>
          </a:p>
        </p:txBody>
      </p:sp>
      <p:pic>
        <p:nvPicPr>
          <p:cNvPr id="4" name="Image 0" descr="/home/claude/icons/users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55448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4C1D95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7190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Diptarko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114800" y="155448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blurRad="76200" dist="25400" dir="5400000" algn="bl" rotWithShape="0">
              <a:srgbClr val="3A2E5C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79392" y="1719072"/>
            <a:ext cx="502920" cy="502920"/>
          </a:xfrm>
          <a:prstGeom prst="ellipse">
            <a:avLst/>
          </a:prstGeom>
          <a:solidFill>
            <a:srgbClr val="EFEAFB"/>
          </a:solidFill>
          <a:ln/>
        </p:spPr>
      </p:sp>
      <p:sp>
        <p:nvSpPr>
          <p:cNvPr id="10" name="Text 7"/>
          <p:cNvSpPr/>
          <p:nvPr/>
        </p:nvSpPr>
        <p:spPr>
          <a:xfrm>
            <a:off x="4279392" y="1719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892040" y="17190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Raghavendra 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0" y="155448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blurRad="76200" dist="25400" dir="5400000" algn="bl" rotWithShape="0">
              <a:srgbClr val="3A2E5C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022592" y="1719072"/>
            <a:ext cx="502920" cy="502920"/>
          </a:xfrm>
          <a:prstGeom prst="ellipse">
            <a:avLst/>
          </a:prstGeom>
          <a:solidFill>
            <a:srgbClr val="EFEAFB"/>
          </a:solidFill>
          <a:ln/>
        </p:spPr>
      </p:sp>
      <p:sp>
        <p:nvSpPr>
          <p:cNvPr id="14" name="Text 11"/>
          <p:cNvSpPr/>
          <p:nvPr/>
        </p:nvSpPr>
        <p:spPr>
          <a:xfrm>
            <a:off x="7022592" y="1719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635240" y="17190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Harsha Vardhan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9601200" y="155448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blurRad="76200" dist="25400" dir="5400000" algn="bl" rotWithShape="0">
              <a:srgbClr val="3A2E5C">
                <a:alpha val="1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9765792" y="1719072"/>
            <a:ext cx="502920" cy="502920"/>
          </a:xfrm>
          <a:prstGeom prst="ellipse">
            <a:avLst/>
          </a:prstGeom>
          <a:solidFill>
            <a:srgbClr val="EFEAFB"/>
          </a:solidFill>
          <a:ln/>
        </p:spPr>
      </p:sp>
      <p:sp>
        <p:nvSpPr>
          <p:cNvPr id="18" name="Text 15"/>
          <p:cNvSpPr/>
          <p:nvPr/>
        </p:nvSpPr>
        <p:spPr>
          <a:xfrm>
            <a:off x="9765792" y="1719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378440" y="171907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Varun 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114800" y="484632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blurRad="76200" dist="25400" dir="5400000" algn="bl" rotWithShape="0">
              <a:srgbClr val="3A2E5C">
                <a:alpha val="1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279392" y="5052060"/>
            <a:ext cx="502920" cy="502920"/>
          </a:xfrm>
          <a:prstGeom prst="ellipse">
            <a:avLst/>
          </a:prstGeom>
          <a:solidFill>
            <a:srgbClr val="EFEAFB"/>
          </a:solidFill>
          <a:ln/>
        </p:spPr>
      </p:sp>
      <p:sp>
        <p:nvSpPr>
          <p:cNvPr id="22" name="Text 19"/>
          <p:cNvSpPr/>
          <p:nvPr/>
        </p:nvSpPr>
        <p:spPr>
          <a:xfrm>
            <a:off x="4279392" y="50520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905756" y="4969764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Jagadish Ram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114800" y="32004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blurRad="76200" dist="25400" dir="5400000" algn="bl" rotWithShape="0">
              <a:srgbClr val="3A2E5C">
                <a:alpha val="1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279392" y="3364992"/>
            <a:ext cx="502920" cy="502920"/>
          </a:xfrm>
          <a:prstGeom prst="ellipse">
            <a:avLst/>
          </a:prstGeom>
          <a:solidFill>
            <a:srgbClr val="EFEAFB"/>
          </a:solidFill>
          <a:ln/>
        </p:spPr>
      </p:sp>
      <p:sp>
        <p:nvSpPr>
          <p:cNvPr id="26" name="Text 23"/>
          <p:cNvSpPr/>
          <p:nvPr/>
        </p:nvSpPr>
        <p:spPr>
          <a:xfrm>
            <a:off x="4279392" y="3364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HS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892040" y="336499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Harshitha 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858000" y="32004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blurRad="76200" dist="25400" dir="5400000" algn="bl" rotWithShape="0">
              <a:srgbClr val="3A2E5C">
                <a:alpha val="1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022592" y="3364992"/>
            <a:ext cx="502920" cy="502920"/>
          </a:xfrm>
          <a:prstGeom prst="ellipse">
            <a:avLst/>
          </a:prstGeom>
          <a:solidFill>
            <a:srgbClr val="EFEAFB"/>
          </a:solidFill>
          <a:ln/>
        </p:spPr>
      </p:sp>
      <p:sp>
        <p:nvSpPr>
          <p:cNvPr id="30" name="Text 27"/>
          <p:cNvSpPr/>
          <p:nvPr/>
        </p:nvSpPr>
        <p:spPr>
          <a:xfrm>
            <a:off x="7022592" y="3364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635240" y="336499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Ankita Gouda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9601200" y="32004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blurRad="76200" dist="25400" dir="5400000" algn="bl" rotWithShape="0">
              <a:srgbClr val="3A2E5C">
                <a:alpha val="1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9765792" y="3364992"/>
            <a:ext cx="502920" cy="502920"/>
          </a:xfrm>
          <a:prstGeom prst="ellipse">
            <a:avLst/>
          </a:prstGeom>
          <a:solidFill>
            <a:srgbClr val="EFEAFB"/>
          </a:solidFill>
          <a:ln/>
        </p:spPr>
      </p:sp>
      <p:sp>
        <p:nvSpPr>
          <p:cNvPr id="34" name="Text 31"/>
          <p:cNvSpPr/>
          <p:nvPr/>
        </p:nvSpPr>
        <p:spPr>
          <a:xfrm>
            <a:off x="9765792" y="3364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10378440" y="3364992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Vidya 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000" dirty="0"/>
          </a:p>
        </p:txBody>
      </p:sp>
      <p:pic>
        <p:nvPicPr>
          <p:cNvPr id="4" name="Image 0" descr="/home/claude/icons/bullseye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828800"/>
            <a:ext cx="73152" cy="9601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78308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platforms provide thousands of courses across different domains. Selecting the right course according to a learner's interests, experience, and learning goals becomes challenging.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73152" cy="9601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301752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search methods often display generic results rather than personalized recommendations, causing learners to spend more time searching than learning.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4343400"/>
            <a:ext cx="9966960" cy="1051560"/>
          </a:xfrm>
          <a:prstGeom prst="roundRect">
            <a:avLst>
              <a:gd name="adj" fmla="val 8696"/>
            </a:avLst>
          </a:prstGeom>
          <a:solidFill>
            <a:srgbClr val="4C1D95"/>
          </a:solidFill>
          <a:ln/>
        </p:spPr>
      </p:sp>
      <p:pic>
        <p:nvPicPr>
          <p:cNvPr id="10" name="Image 1" descr="/home/claude/icons/bulb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1772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4343400"/>
            <a:ext cx="87782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Therefore, an intelligent recommendation system is required to provide personalized course suggestions.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000" dirty="0"/>
          </a:p>
        </p:txBody>
      </p:sp>
      <p:pic>
        <p:nvPicPr>
          <p:cNvPr id="4" name="Image 0" descr="/home/claude/icons/cap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5074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2002536"/>
            <a:ext cx="475488" cy="475488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20025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17320" y="178308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learner–course interaction data.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897880" y="1691640"/>
            <a:ext cx="5074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99048" y="2002536"/>
            <a:ext cx="475488" cy="475488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1" name="Text 8"/>
          <p:cNvSpPr/>
          <p:nvPr/>
        </p:nvSpPr>
        <p:spPr>
          <a:xfrm>
            <a:off x="6099048" y="20025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766560" y="178308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learner preferences through exploratory data analysis.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3063240"/>
            <a:ext cx="5074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49808" y="3374136"/>
            <a:ext cx="475488" cy="475488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5" name="Text 12"/>
          <p:cNvSpPr/>
          <p:nvPr/>
        </p:nvSpPr>
        <p:spPr>
          <a:xfrm>
            <a:off x="749808" y="33741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17320" y="315468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Content-Based Recommendation System.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897880" y="3063240"/>
            <a:ext cx="5074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99048" y="3374136"/>
            <a:ext cx="475488" cy="475488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19" name="Text 16"/>
          <p:cNvSpPr/>
          <p:nvPr/>
        </p:nvSpPr>
        <p:spPr>
          <a:xfrm>
            <a:off x="6099048" y="33741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766560" y="315468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Collaborative Filtering Recommendation System.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4434840"/>
            <a:ext cx="5074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9808" y="4745736"/>
            <a:ext cx="475488" cy="475488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3" name="Text 20"/>
          <p:cNvSpPr/>
          <p:nvPr/>
        </p:nvSpPr>
        <p:spPr>
          <a:xfrm>
            <a:off x="749808" y="47457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417320" y="452628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recommendation accuracy using feature engineering.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5897880" y="4434840"/>
            <a:ext cx="507492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99048" y="4745736"/>
            <a:ext cx="475488" cy="475488"/>
          </a:xfrm>
          <a:prstGeom prst="ellipse">
            <a:avLst/>
          </a:prstGeom>
          <a:solidFill>
            <a:srgbClr val="4C1D95"/>
          </a:solidFill>
          <a:ln/>
        </p:spPr>
      </p:sp>
      <p:sp>
        <p:nvSpPr>
          <p:cNvPr id="27" name="Text 24"/>
          <p:cNvSpPr/>
          <p:nvPr/>
        </p:nvSpPr>
        <p:spPr>
          <a:xfrm>
            <a:off x="6099048" y="47457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766560" y="452628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recommendation system using Streamlit.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WORKED WITH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pic>
        <p:nvPicPr>
          <p:cNvPr id="4" name="Image 0" descr="/home/claude/icons/database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2423160" cy="1234440"/>
          </a:xfrm>
          <a:prstGeom prst="roundRect">
            <a:avLst>
              <a:gd name="adj" fmla="val 7407"/>
            </a:avLst>
          </a:prstGeom>
          <a:solidFill>
            <a:srgbClr val="4C1D95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7830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23774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54680" y="1691640"/>
            <a:ext cx="2423160" cy="1234440"/>
          </a:xfrm>
          <a:prstGeom prst="roundRect">
            <a:avLst>
              <a:gd name="adj" fmla="val 7407"/>
            </a:avLst>
          </a:prstGeom>
          <a:solidFill>
            <a:srgbClr val="4C1D95"/>
          </a:solidFill>
          <a:ln/>
        </p:spPr>
      </p:sp>
      <p:sp>
        <p:nvSpPr>
          <p:cNvPr id="9" name="Text 6"/>
          <p:cNvSpPr/>
          <p:nvPr/>
        </p:nvSpPr>
        <p:spPr>
          <a:xfrm>
            <a:off x="3154680" y="17830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154680" y="23774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760720" y="1691640"/>
            <a:ext cx="2423160" cy="1234440"/>
          </a:xfrm>
          <a:prstGeom prst="roundRect">
            <a:avLst>
              <a:gd name="adj" fmla="val 7407"/>
            </a:avLst>
          </a:prstGeom>
          <a:solidFill>
            <a:srgbClr val="4C1D95"/>
          </a:solidFill>
          <a:ln/>
        </p:spPr>
      </p:sp>
      <p:sp>
        <p:nvSpPr>
          <p:cNvPr id="12" name="Text 9"/>
          <p:cNvSpPr/>
          <p:nvPr/>
        </p:nvSpPr>
        <p:spPr>
          <a:xfrm>
            <a:off x="5760720" y="17830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43,242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760720" y="23774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366760" y="1691640"/>
            <a:ext cx="2423160" cy="1234440"/>
          </a:xfrm>
          <a:prstGeom prst="roundRect">
            <a:avLst>
              <a:gd name="adj" fmla="val 7407"/>
            </a:avLst>
          </a:prstGeom>
          <a:solidFill>
            <a:srgbClr val="4C1D95"/>
          </a:solidFill>
          <a:ln/>
        </p:spPr>
      </p:sp>
      <p:sp>
        <p:nvSpPr>
          <p:cNvPr id="15" name="Text 12"/>
          <p:cNvSpPr/>
          <p:nvPr/>
        </p:nvSpPr>
        <p:spPr>
          <a:xfrm>
            <a:off x="8366760" y="178308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8366760" y="23774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4864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Attributes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3703320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 w="9525">
            <a:solidFill>
              <a:srgbClr val="D8CD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70332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00400" y="3703320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 w="9525">
            <a:solidFill>
              <a:srgbClr val="D8CD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0" y="370332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852160" y="3703320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 w="9525">
            <a:solidFill>
              <a:srgbClr val="D8CDF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52160" y="370332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Name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503920" y="3703320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 w="9525">
            <a:solidFill>
              <a:srgbClr val="D8CD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03920" y="3703320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48640" y="4261104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 w="9525">
            <a:solidFill>
              <a:srgbClr val="D8CDF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4261104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Level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0" y="4261104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 w="9525">
            <a:solidFill>
              <a:srgbClr val="D8CD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0" y="4261104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852160" y="4261104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 w="9525">
            <a:solidFill>
              <a:srgbClr val="D8CD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52160" y="4261104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Price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503920" y="4261104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 w="9525">
            <a:solidFill>
              <a:srgbClr val="D8CDF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503920" y="4261104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Numbers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48640" y="4818888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 w="9525">
            <a:solidFill>
              <a:srgbClr val="D8CD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8640" y="481888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Score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200400" y="4818888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 w="9525">
            <a:solidFill>
              <a:srgbClr val="D8CD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200400" y="481888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Offered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5852160" y="4818888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 w="9525">
            <a:solidFill>
              <a:srgbClr val="D8CD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852160" y="481888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Material Available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8503920" y="4818888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 w="9525">
            <a:solidFill>
              <a:srgbClr val="D8CDF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503920" y="4818888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548640" y="5376672"/>
            <a:ext cx="2514600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 w="9525">
            <a:solidFill>
              <a:srgbClr val="D8CDF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48640" y="5376672"/>
            <a:ext cx="2514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Courses Taken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THE DATA READY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000" dirty="0"/>
          </a:p>
        </p:txBody>
      </p:sp>
      <p:pic>
        <p:nvPicPr>
          <p:cNvPr id="4" name="Image 0" descr="/home/claude/icons/broom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00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was carefully examined before model building.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PERFORMED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94360" y="266090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53288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Missing Values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4360" y="316382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0358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94360" y="366674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53872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Verification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94360" y="416966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404164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94360" y="467258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5445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Analysis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943600" y="2194560"/>
            <a:ext cx="4754880" cy="3108960"/>
          </a:xfrm>
          <a:prstGeom prst="roundRect">
            <a:avLst>
              <a:gd name="adj" fmla="val 3529"/>
            </a:avLst>
          </a:prstGeom>
          <a:solidFill>
            <a:srgbClr val="4C1D95"/>
          </a:solidFill>
          <a:ln/>
        </p:spPr>
      </p:sp>
      <p:pic>
        <p:nvPicPr>
          <p:cNvPr id="18" name="Image 1" descr="/home/claude/icons/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46888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85800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263640" y="31089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Missing Values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6263640" y="36118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Duplicate Records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6263640" y="41148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Clean Dataset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6263640" y="4617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Ready for Machine Learning</a:t>
            </a:r>
            <a:endParaRPr lang="en-US" sz="145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Analysis</a:t>
            </a:r>
            <a:endParaRPr lang="en-US" sz="3000" dirty="0"/>
          </a:p>
        </p:txBody>
      </p:sp>
      <p:pic>
        <p:nvPicPr>
          <p:cNvPr id="4" name="Image 0" descr="/home/claude/icons/chartbar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00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were created for all numerical variables.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EXAMINED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2651760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 w="9525">
            <a:solidFill>
              <a:srgbClr val="D8CD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56032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Duration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64992" y="2560320"/>
            <a:ext cx="1335024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 w="9525">
            <a:solidFill>
              <a:srgbClr val="D8CD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64992" y="2560320"/>
            <a:ext cx="133502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64608" y="2560320"/>
            <a:ext cx="1920240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 w="9525">
            <a:solidFill>
              <a:srgbClr val="D8CD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64608" y="256032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949440" y="2560320"/>
            <a:ext cx="1188720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 w="9525">
            <a:solidFill>
              <a:srgbClr val="D8CD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2560320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302752" y="2560320"/>
            <a:ext cx="2505456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 w="9525">
            <a:solidFill>
              <a:srgbClr val="D8CD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02752" y="2560320"/>
            <a:ext cx="250545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Score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8640" y="3136392"/>
            <a:ext cx="1920240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 w="9525">
            <a:solidFill>
              <a:srgbClr val="D8CD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13639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Spent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633472" y="3136392"/>
            <a:ext cx="2798064" cy="438912"/>
          </a:xfrm>
          <a:prstGeom prst="roundRect">
            <a:avLst>
              <a:gd name="adj" fmla="val 50000"/>
            </a:avLst>
          </a:prstGeom>
          <a:solidFill>
            <a:srgbClr val="EFEAFB"/>
          </a:solidFill>
          <a:ln w="9525">
            <a:solidFill>
              <a:srgbClr val="D8CD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633472" y="3136392"/>
            <a:ext cx="27980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Courses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4160520"/>
            <a:ext cx="9966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pic>
        <p:nvPicPr>
          <p:cNvPr id="22" name="Image 1" descr="/home/claude/icons/bulb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34840"/>
            <a:ext cx="457200" cy="4572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63040" y="4160520"/>
            <a:ext cx="8778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 </a:t>
            </a:r>
            <a:r>
              <a:rPr lang="en-US" sz="13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outliers were identified, they were retained because they represent genuine learner behavior and contain useful recommendation information.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Enrollment Distribution</a:t>
            </a:r>
            <a:endParaRPr lang="en-US" sz="3000" dirty="0"/>
          </a:p>
        </p:txBody>
      </p:sp>
      <p:pic>
        <p:nvPicPr>
          <p:cNvPr id="4" name="Image 0" descr="/home/claude/icons/chartpie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graphicFrame>
        <p:nvGraphicFramePr>
          <p:cNvPr id="5" name="Chart 0"/>
          <p:cNvGraphicFramePr/>
          <p:nvPr/>
        </p:nvGraphicFramePr>
        <p:xfrm>
          <a:off x="502920" y="1600200"/>
          <a:ext cx="63093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086600" y="1600200"/>
            <a:ext cx="4526280" cy="4160520"/>
          </a:xfrm>
          <a:prstGeom prst="roundRect">
            <a:avLst>
              <a:gd name="adj" fmla="val 2637"/>
            </a:avLst>
          </a:prstGeom>
          <a:solidFill>
            <a:srgbClr val="4C1D95"/>
          </a:solidFill>
          <a:ln/>
        </p:spPr>
      </p:sp>
      <p:sp>
        <p:nvSpPr>
          <p:cNvPr id="7" name="Text 3"/>
          <p:cNvSpPr/>
          <p:nvPr/>
        </p:nvSpPr>
        <p:spPr>
          <a:xfrm>
            <a:off x="7406640" y="18745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406640" y="24140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5"/>
          <p:cNvSpPr/>
          <p:nvPr/>
        </p:nvSpPr>
        <p:spPr>
          <a:xfrm>
            <a:off x="7680960" y="22585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 Design with Canva has the highest enrollments among all courses.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406640" y="33284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7"/>
          <p:cNvSpPr/>
          <p:nvPr/>
        </p:nvSpPr>
        <p:spPr>
          <a:xfrm>
            <a:off x="7680960" y="31729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courses like Cybersecurity, DevOps, and Machine Learning also show strong demand.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06640" y="42428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9"/>
          <p:cNvSpPr/>
          <p:nvPr/>
        </p:nvSpPr>
        <p:spPr>
          <a:xfrm>
            <a:off x="7680960" y="40873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experiences balanced interest across both technical and professional domains.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Difficulty Level Distribution</a:t>
            </a:r>
            <a:endParaRPr lang="en-US" sz="3000" dirty="0"/>
          </a:p>
        </p:txBody>
      </p:sp>
      <p:pic>
        <p:nvPicPr>
          <p:cNvPr id="4" name="Image 0" descr="/home/claude/icons/chartpie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graphicFrame>
        <p:nvGraphicFramePr>
          <p:cNvPr id="5" name="Chart 0"/>
          <p:cNvGraphicFramePr/>
          <p:nvPr/>
        </p:nvGraphicFramePr>
        <p:xfrm>
          <a:off x="502920" y="1600200"/>
          <a:ext cx="63093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086600" y="1600200"/>
            <a:ext cx="4526280" cy="4160520"/>
          </a:xfrm>
          <a:prstGeom prst="roundRect">
            <a:avLst>
              <a:gd name="adj" fmla="val 2637"/>
            </a:avLst>
          </a:prstGeom>
          <a:solidFill>
            <a:srgbClr val="4C1D95"/>
          </a:solidFill>
          <a:ln/>
        </p:spPr>
      </p:sp>
      <p:sp>
        <p:nvSpPr>
          <p:cNvPr id="7" name="Text 3"/>
          <p:cNvSpPr/>
          <p:nvPr/>
        </p:nvSpPr>
        <p:spPr>
          <a:xfrm>
            <a:off x="7406640" y="18745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406640" y="24140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5"/>
          <p:cNvSpPr/>
          <p:nvPr/>
        </p:nvSpPr>
        <p:spPr>
          <a:xfrm>
            <a:off x="7680960" y="22585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courses dominate the platform, followed by Intermediate.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406640" y="33284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7"/>
          <p:cNvSpPr/>
          <p:nvPr/>
        </p:nvSpPr>
        <p:spPr>
          <a:xfrm>
            <a:off x="7680960" y="31729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courses are comparatively fewer in number.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06640" y="42428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9"/>
          <p:cNvSpPr/>
          <p:nvPr/>
        </p:nvSpPr>
        <p:spPr>
          <a:xfrm>
            <a:off x="7680960" y="40873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mainly targets new learners — Beginner courses help boost engagement.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·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Availability</a:t>
            </a:r>
            <a:endParaRPr lang="en-US" sz="3000" dirty="0"/>
          </a:p>
        </p:txBody>
      </p:sp>
      <p:pic>
        <p:nvPicPr>
          <p:cNvPr id="4" name="Image 0" descr="/home/claude/icons/chartpie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graphicFrame>
        <p:nvGraphicFramePr>
          <p:cNvPr id="5" name="Chart 0"/>
          <p:cNvGraphicFramePr/>
          <p:nvPr/>
        </p:nvGraphicFramePr>
        <p:xfrm>
          <a:off x="1325880" y="1600200"/>
          <a:ext cx="466344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086600" y="1600200"/>
            <a:ext cx="4526280" cy="4160520"/>
          </a:xfrm>
          <a:prstGeom prst="roundRect">
            <a:avLst>
              <a:gd name="adj" fmla="val 2637"/>
            </a:avLst>
          </a:prstGeom>
          <a:solidFill>
            <a:srgbClr val="4C1D95"/>
          </a:solidFill>
          <a:ln/>
        </p:spPr>
      </p:sp>
      <p:sp>
        <p:nvSpPr>
          <p:cNvPr id="7" name="Text 3"/>
          <p:cNvSpPr/>
          <p:nvPr/>
        </p:nvSpPr>
        <p:spPr>
          <a:xfrm>
            <a:off x="7406640" y="18745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406640" y="24140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5"/>
          <p:cNvSpPr/>
          <p:nvPr/>
        </p:nvSpPr>
        <p:spPr>
          <a:xfrm>
            <a:off x="7680960" y="22585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courses on the platform provide certifications.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406640" y="33284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7"/>
          <p:cNvSpPr/>
          <p:nvPr/>
        </p:nvSpPr>
        <p:spPr>
          <a:xfrm>
            <a:off x="7680960" y="31729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courses attract more learners and increase course credibility.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06640" y="42428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9"/>
          <p:cNvSpPr/>
          <p:nvPr/>
        </p:nvSpPr>
        <p:spPr>
          <a:xfrm>
            <a:off x="7680960" y="40873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availability is an important feature during recommendation.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·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Distribution</a:t>
            </a:r>
            <a:endParaRPr lang="en-US" sz="3000" dirty="0"/>
          </a:p>
        </p:txBody>
      </p:sp>
      <p:pic>
        <p:nvPicPr>
          <p:cNvPr id="4" name="Image 0" descr="/home/claude/icons/chartpie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graphicFrame>
        <p:nvGraphicFramePr>
          <p:cNvPr id="5" name="Chart 0"/>
          <p:cNvGraphicFramePr/>
          <p:nvPr/>
        </p:nvGraphicFramePr>
        <p:xfrm>
          <a:off x="502920" y="1600200"/>
          <a:ext cx="63093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086600" y="1600200"/>
            <a:ext cx="4526280" cy="4160520"/>
          </a:xfrm>
          <a:prstGeom prst="roundRect">
            <a:avLst>
              <a:gd name="adj" fmla="val 2637"/>
            </a:avLst>
          </a:prstGeom>
          <a:solidFill>
            <a:srgbClr val="4C1D95"/>
          </a:solidFill>
          <a:ln/>
        </p:spPr>
      </p:sp>
      <p:sp>
        <p:nvSpPr>
          <p:cNvPr id="7" name="Text 3"/>
          <p:cNvSpPr/>
          <p:nvPr/>
        </p:nvSpPr>
        <p:spPr>
          <a:xfrm>
            <a:off x="7406640" y="18745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406640" y="24140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5"/>
          <p:cNvSpPr/>
          <p:nvPr/>
        </p:nvSpPr>
        <p:spPr>
          <a:xfrm>
            <a:off x="7680960" y="22585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ratings lie between 3.5 and 5.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406640" y="33284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7"/>
          <p:cNvSpPr/>
          <p:nvPr/>
        </p:nvSpPr>
        <p:spPr>
          <a:xfrm>
            <a:off x="7680960" y="31729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courses receive poor ratings.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06640" y="42428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9"/>
          <p:cNvSpPr/>
          <p:nvPr/>
        </p:nvSpPr>
        <p:spPr>
          <a:xfrm>
            <a:off x="7680960" y="40873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learner satisfaction is high — the platform maintains quality course content.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·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Price Distribution</a:t>
            </a:r>
            <a:endParaRPr lang="en-US" sz="3000" dirty="0"/>
          </a:p>
        </p:txBody>
      </p:sp>
      <p:pic>
        <p:nvPicPr>
          <p:cNvPr id="4" name="Image 0" descr="/home/claude/icons/chartpie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graphicFrame>
        <p:nvGraphicFramePr>
          <p:cNvPr id="5" name="Chart 0"/>
          <p:cNvGraphicFramePr/>
          <p:nvPr/>
        </p:nvGraphicFramePr>
        <p:xfrm>
          <a:off x="502920" y="1600200"/>
          <a:ext cx="63093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086600" y="1600200"/>
            <a:ext cx="4526280" cy="4160520"/>
          </a:xfrm>
          <a:prstGeom prst="roundRect">
            <a:avLst>
              <a:gd name="adj" fmla="val 2637"/>
            </a:avLst>
          </a:prstGeom>
          <a:solidFill>
            <a:srgbClr val="4C1D95"/>
          </a:solidFill>
          <a:ln/>
        </p:spPr>
      </p:sp>
      <p:sp>
        <p:nvSpPr>
          <p:cNvPr id="7" name="Text 3"/>
          <p:cNvSpPr/>
          <p:nvPr/>
        </p:nvSpPr>
        <p:spPr>
          <a:xfrm>
            <a:off x="7406640" y="18745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406640" y="24140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5"/>
          <p:cNvSpPr/>
          <p:nvPr/>
        </p:nvSpPr>
        <p:spPr>
          <a:xfrm>
            <a:off x="7680960" y="22585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prices are evenly distributed across the catalogue.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406640" y="33284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7"/>
          <p:cNvSpPr/>
          <p:nvPr/>
        </p:nvSpPr>
        <p:spPr>
          <a:xfrm>
            <a:off x="7680960" y="31729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pricing options are available to learners.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06640" y="42428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9"/>
          <p:cNvSpPr/>
          <p:nvPr/>
        </p:nvSpPr>
        <p:spPr>
          <a:xfrm>
            <a:off x="7680960" y="40873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have flexible budget choices — price alone does not determine popularity.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·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Correlation Heatmap</a:t>
            </a:r>
            <a:endParaRPr lang="en-US" sz="3000" dirty="0"/>
          </a:p>
        </p:txBody>
      </p:sp>
      <p:pic>
        <p:nvPicPr>
          <p:cNvPr id="4" name="Image 0" descr="/home/claude/icons/chartpie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554480"/>
            <a:ext cx="630936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pic>
        <p:nvPicPr>
          <p:cNvPr id="6" name="Image 1" descr="/home/claude/icons/chart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691640"/>
            <a:ext cx="5943600" cy="40233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086600" y="1600200"/>
            <a:ext cx="4526280" cy="4160520"/>
          </a:xfrm>
          <a:prstGeom prst="roundRect">
            <a:avLst>
              <a:gd name="adj" fmla="val 2637"/>
            </a:avLst>
          </a:prstGeom>
          <a:solidFill>
            <a:srgbClr val="4C1D95"/>
          </a:solidFill>
          <a:ln/>
        </p:spPr>
      </p:sp>
      <p:sp>
        <p:nvSpPr>
          <p:cNvPr id="8" name="Text 4"/>
          <p:cNvSpPr/>
          <p:nvPr/>
        </p:nvSpPr>
        <p:spPr>
          <a:xfrm>
            <a:off x="7406640" y="18745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7406640" y="24140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6"/>
          <p:cNvSpPr/>
          <p:nvPr/>
        </p:nvSpPr>
        <p:spPr>
          <a:xfrm>
            <a:off x="7680960" y="22585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correlation exists between most numerical variables.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7406640" y="33284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8"/>
          <p:cNvSpPr/>
          <p:nvPr/>
        </p:nvSpPr>
        <p:spPr>
          <a:xfrm>
            <a:off x="7680960" y="31729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feature dominates the recommendation outcome.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406640" y="42428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0"/>
          <p:cNvSpPr/>
          <p:nvPr/>
        </p:nvSpPr>
        <p:spPr>
          <a:xfrm>
            <a:off x="7680960" y="40873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features combined together improve prediction quality.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·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vs. Feedback Score</a:t>
            </a:r>
            <a:endParaRPr lang="en-US" sz="3000" dirty="0"/>
          </a:p>
        </p:txBody>
      </p:sp>
      <p:pic>
        <p:nvPicPr>
          <p:cNvPr id="4" name="Image 0" descr="/home/claude/icons/chartpie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275093828"/>
              </p:ext>
            </p:extLst>
          </p:nvPr>
        </p:nvGraphicFramePr>
        <p:xfrm>
          <a:off x="502920" y="1600200"/>
          <a:ext cx="63093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7086600" y="1600200"/>
            <a:ext cx="4526280" cy="4160520"/>
          </a:xfrm>
          <a:prstGeom prst="roundRect">
            <a:avLst>
              <a:gd name="adj" fmla="val 2637"/>
            </a:avLst>
          </a:prstGeom>
          <a:solidFill>
            <a:srgbClr val="4C1D95"/>
          </a:solidFill>
          <a:ln/>
        </p:spPr>
      </p:sp>
      <p:sp>
        <p:nvSpPr>
          <p:cNvPr id="7" name="Text 3"/>
          <p:cNvSpPr/>
          <p:nvPr/>
        </p:nvSpPr>
        <p:spPr>
          <a:xfrm>
            <a:off x="7406640" y="18745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7406640" y="24140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5"/>
          <p:cNvSpPr/>
          <p:nvPr/>
        </p:nvSpPr>
        <p:spPr>
          <a:xfrm>
            <a:off x="7680960" y="22585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positive relationship was observed between rating and feedback score.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406640" y="33284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7"/>
          <p:cNvSpPr/>
          <p:nvPr/>
        </p:nvSpPr>
        <p:spPr>
          <a:xfrm>
            <a:off x="7680960" y="31729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score alone cannot reliably predict ratings.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06640" y="42428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9"/>
          <p:cNvSpPr/>
          <p:nvPr/>
        </p:nvSpPr>
        <p:spPr>
          <a:xfrm>
            <a:off x="7680960" y="4087368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learners rate courses differently — additional features improve accuracy.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FOR MODELLING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pic>
        <p:nvPicPr>
          <p:cNvPr id="4" name="Image 0" descr="/home/claude/icons/filter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99669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13232" y="1874520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8745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1737360"/>
            <a:ext cx="8961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binary features (Yes/No → 1/0).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2587752"/>
            <a:ext cx="9966960" cy="713232"/>
          </a:xfrm>
          <a:prstGeom prst="roundRect">
            <a:avLst>
              <a:gd name="adj" fmla="val 11538"/>
            </a:avLst>
          </a:prstGeom>
          <a:solidFill>
            <a:srgbClr val="EFEAFB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2724912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2724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2587752"/>
            <a:ext cx="8961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course difficulty using Label Encoding.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3438144"/>
            <a:ext cx="99669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575304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" y="35753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25880" y="3438144"/>
            <a:ext cx="8961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an Engagement Score to measure learner activity.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48640" y="4288536"/>
            <a:ext cx="9966960" cy="713232"/>
          </a:xfrm>
          <a:prstGeom prst="roundRect">
            <a:avLst>
              <a:gd name="adj" fmla="val 11538"/>
            </a:avLst>
          </a:prstGeom>
          <a:solidFill>
            <a:srgbClr val="EFEAFB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3232" y="4425696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44256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25880" y="4288536"/>
            <a:ext cx="8961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 Popularity Score using ratings, feedback, and enrollments.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48640" y="5138928"/>
            <a:ext cx="996696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13232" y="5276088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0"/>
          <p:cNvSpPr/>
          <p:nvPr/>
        </p:nvSpPr>
        <p:spPr>
          <a:xfrm>
            <a:off x="713232" y="52760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25880" y="5138928"/>
            <a:ext cx="8961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final feature dataset for training the recommendation models.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Techniques</a:t>
            </a:r>
            <a:endParaRPr lang="en-US" sz="3000" dirty="0"/>
          </a:p>
        </p:txBody>
      </p:sp>
      <p:pic>
        <p:nvPicPr>
          <p:cNvPr id="4" name="Image 0" descr="/home/claude/icons/sitemap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recommendation techniques were implemented for this project.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5029200" cy="3383280"/>
          </a:xfrm>
          <a:prstGeom prst="roundRect">
            <a:avLst>
              <a:gd name="adj" fmla="val 3784"/>
            </a:avLst>
          </a:prstGeom>
          <a:solidFill>
            <a:srgbClr val="4C1D95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25146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pic>
        <p:nvPicPr>
          <p:cNvPr id="9" name="Image 1" descr="/home/claude/icons/brain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51460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333756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Content-Based Filtering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914400" y="3977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courses similar to the selected course, using course features such as name, instructor, and difficulty.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806440" y="2148840"/>
            <a:ext cx="5029200" cy="3383280"/>
          </a:xfrm>
          <a:prstGeom prst="roundRect">
            <a:avLst>
              <a:gd name="adj" fmla="val 3784"/>
            </a:avLst>
          </a:prstGeom>
          <a:solidFill>
            <a:srgbClr val="1F1B2E"/>
          </a:solidFill>
          <a:ln/>
        </p:spPr>
      </p:sp>
      <p:sp>
        <p:nvSpPr>
          <p:cNvPr id="13" name="Shape 9"/>
          <p:cNvSpPr/>
          <p:nvPr/>
        </p:nvSpPr>
        <p:spPr>
          <a:xfrm>
            <a:off x="6172200" y="25146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0"/>
          <p:cNvSpPr/>
          <p:nvPr/>
        </p:nvSpPr>
        <p:spPr>
          <a:xfrm>
            <a:off x="6172200" y="2514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pic>
        <p:nvPicPr>
          <p:cNvPr id="15" name="Image 2" descr="/home/claude/icons/users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251460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72200" y="333756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Filtering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6172200" y="3977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E4D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courses preferred by users with similar interests, based on the user–course rating matrix.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·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Content-Based Recommendation</a:t>
            </a:r>
            <a:endParaRPr lang="en-US" sz="3000" dirty="0"/>
          </a:p>
        </p:txBody>
      </p:sp>
      <p:pic>
        <p:nvPicPr>
          <p:cNvPr id="4" name="Image 0" descr="/home/claude/icons/brain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77393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6459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courses based on course features.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" y="2258568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13055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Course Name, Instructor, and Difficulty Level.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2743200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61518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into numerical values using TF-IDF.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" y="3227832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09981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similarity using Cosine Similarity.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94360" y="3712464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358444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the top similar courses.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223760" y="169164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4C1D95"/>
          </a:solidFill>
          <a:ln/>
        </p:spPr>
      </p:sp>
      <p:sp>
        <p:nvSpPr>
          <p:cNvPr id="16" name="Text 13"/>
          <p:cNvSpPr/>
          <p:nvPr/>
        </p:nvSpPr>
        <p:spPr>
          <a:xfrm>
            <a:off x="749808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/>
          </a:p>
        </p:txBody>
      </p:sp>
      <p:pic>
        <p:nvPicPr>
          <p:cNvPr id="17" name="Image 1" descr="/home/claude/icons/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2423160"/>
            <a:ext cx="365760" cy="3657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955280" y="23774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recommendations</a:t>
            </a:r>
            <a:endParaRPr lang="en-US" sz="1300" dirty="0"/>
          </a:p>
        </p:txBody>
      </p:sp>
      <p:pic>
        <p:nvPicPr>
          <p:cNvPr id="19" name="Image 2" descr="/home/claude/icons/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32004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955280" y="3154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new users</a:t>
            </a:r>
            <a:endParaRPr lang="en-US" sz="1300" dirty="0"/>
          </a:p>
        </p:txBody>
      </p:sp>
      <p:pic>
        <p:nvPicPr>
          <p:cNvPr id="21" name="Image 3" descr="/home/claude/icons/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39776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955280" y="3931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implement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·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Content-Based Results</a:t>
            </a:r>
            <a:endParaRPr lang="en-US" sz="3000" dirty="0"/>
          </a:p>
        </p:txBody>
      </p:sp>
      <p:pic>
        <p:nvPicPr>
          <p:cNvPr id="4" name="Image 0" descr="/home/claude/icons/chartline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INPUT COURSE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4572000" cy="777240"/>
          </a:xfrm>
          <a:prstGeom prst="roundRect">
            <a:avLst>
              <a:gd name="adj" fmla="val 11765"/>
            </a:avLst>
          </a:prstGeom>
          <a:solidFill>
            <a:srgbClr val="1F1B2E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0116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for Beginners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COURSES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34290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for Professionals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3977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and System Administration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452628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45262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 Masterclass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5074920"/>
            <a:ext cx="4572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50749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and Continuous Deployment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577840" y="2011680"/>
            <a:ext cx="5669280" cy="3703320"/>
          </a:xfrm>
          <a:prstGeom prst="roundRect">
            <a:avLst>
              <a:gd name="adj" fmla="val 2963"/>
            </a:avLst>
          </a:prstGeom>
          <a:solidFill>
            <a:srgbClr val="4C1D95"/>
          </a:solidFill>
          <a:ln/>
        </p:spPr>
      </p:sp>
      <p:pic>
        <p:nvPicPr>
          <p:cNvPr id="18" name="Image 1" descr="/home/claude/icons/bulb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28600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492240" y="2377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897880" y="2926080"/>
            <a:ext cx="5120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are based on similar course features, helping learners discover related courses they may not have searched for directly.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·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Filtering</a:t>
            </a:r>
            <a:endParaRPr lang="en-US" sz="3000" dirty="0"/>
          </a:p>
        </p:txBody>
      </p:sp>
      <p:pic>
        <p:nvPicPr>
          <p:cNvPr id="4" name="Image 0" descr="/home/claude/icons/users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" y="177393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16459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user ratings for recommendations.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4360" y="232257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1945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User–Course Matrix.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287121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74320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similar users using Cosine Similarity.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4360" y="3419856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2918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courses liked by similar users.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223760" y="169164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1F1B2E"/>
          </a:solidFill>
          <a:ln/>
        </p:spPr>
      </p:sp>
      <p:sp>
        <p:nvSpPr>
          <p:cNvPr id="14" name="Text 11"/>
          <p:cNvSpPr/>
          <p:nvPr/>
        </p:nvSpPr>
        <p:spPr>
          <a:xfrm>
            <a:off x="7498080" y="19202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200" dirty="0"/>
          </a:p>
        </p:txBody>
      </p:sp>
      <p:pic>
        <p:nvPicPr>
          <p:cNvPr id="15" name="Image 1" descr="/home/claude/icons/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24231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955280" y="23774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250" dirty="0"/>
          </a:p>
        </p:txBody>
      </p:sp>
      <p:pic>
        <p:nvPicPr>
          <p:cNvPr id="17" name="Image 2" descr="/home/claude/icons/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32004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955280" y="3154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user preferences</a:t>
            </a:r>
            <a:endParaRPr lang="en-US" sz="1250" dirty="0"/>
          </a:p>
        </p:txBody>
      </p:sp>
      <p:pic>
        <p:nvPicPr>
          <p:cNvPr id="19" name="Image 3" descr="/home/claude/icons/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39776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955280" y="3931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user experience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·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Filtering Results</a:t>
            </a:r>
            <a:endParaRPr lang="en-US" sz="3000" dirty="0"/>
          </a:p>
        </p:txBody>
      </p:sp>
      <p:pic>
        <p:nvPicPr>
          <p:cNvPr id="4" name="Image 0" descr="/home/claude/icons/chartline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45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USER ID: 15796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COURSES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487168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48716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Beginners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108960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31089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and Continuous Deployment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730752"/>
            <a:ext cx="4937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373075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and System Administration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0" y="1645920"/>
            <a:ext cx="5303520" cy="4069080"/>
          </a:xfrm>
          <a:prstGeom prst="roundRect">
            <a:avLst>
              <a:gd name="adj" fmla="val 2697"/>
            </a:avLst>
          </a:prstGeom>
          <a:solidFill>
            <a:srgbClr val="4C1D95"/>
          </a:solidFill>
          <a:ln/>
        </p:spPr>
      </p:sp>
      <p:pic>
        <p:nvPicPr>
          <p:cNvPr id="14" name="Image 1" descr="/home/claude/icons/bulb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92024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5800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263640" y="25603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are based on users with similar interests, providing truly personalized course suggestions tailored to each learner's behaviour.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 LEARNERS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Deployment</a:t>
            </a:r>
            <a:endParaRPr lang="en-US" sz="3000" dirty="0"/>
          </a:p>
        </p:txBody>
      </p:sp>
      <p:pic>
        <p:nvPicPr>
          <p:cNvPr id="4" name="Image 0" descr="/home/claude/icons/rocket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002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 model was deployed using Streamlit.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FILES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1F1B2E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606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course_df.pkl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1F1B2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3200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cosine_sim.pkl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794760"/>
            <a:ext cx="4389120" cy="457200"/>
          </a:xfrm>
          <a:prstGeom prst="roundRect">
            <a:avLst>
              <a:gd name="adj" fmla="val 16000"/>
            </a:avLst>
          </a:prstGeom>
          <a:solidFill>
            <a:srgbClr val="1F1B2E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794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course_indices.pkl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577840" y="2194560"/>
            <a:ext cx="5669280" cy="3520440"/>
          </a:xfrm>
          <a:prstGeom prst="roundRect">
            <a:avLst>
              <a:gd name="adj" fmla="val 3117"/>
            </a:avLst>
          </a:prstGeom>
          <a:solidFill>
            <a:srgbClr val="4C1D95"/>
          </a:solidFill>
          <a:ln/>
        </p:spPr>
      </p:sp>
      <p:sp>
        <p:nvSpPr>
          <p:cNvPr id="14" name="Text 11"/>
          <p:cNvSpPr/>
          <p:nvPr/>
        </p:nvSpPr>
        <p:spPr>
          <a:xfrm>
            <a:off x="5897880" y="2423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pic>
        <p:nvPicPr>
          <p:cNvPr id="15" name="Image 1" descr="/home/claude/icons/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88036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27648" y="2834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Loading</a:t>
            </a:r>
            <a:endParaRPr lang="en-US" sz="1400" dirty="0"/>
          </a:p>
        </p:txBody>
      </p:sp>
      <p:pic>
        <p:nvPicPr>
          <p:cNvPr id="17" name="Image 2" descr="/home/claude/icons/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347472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27648" y="3429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1400" dirty="0"/>
          </a:p>
        </p:txBody>
      </p:sp>
      <p:pic>
        <p:nvPicPr>
          <p:cNvPr id="19" name="Image 3" descr="/home/claude/icons/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4069080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327648" y="4023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User Interface</a:t>
            </a:r>
            <a:endParaRPr lang="en-US" sz="1400" dirty="0"/>
          </a:p>
        </p:txBody>
      </p:sp>
      <p:pic>
        <p:nvPicPr>
          <p:cNvPr id="21" name="Image 4" descr="/home/claude/icons/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4663440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27648" y="46177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Course Recommendation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— App Screenshot</a:t>
            </a:r>
            <a:endParaRPr lang="en-US" sz="3000" dirty="0"/>
          </a:p>
        </p:txBody>
      </p:sp>
      <p:pic>
        <p:nvPicPr>
          <p:cNvPr id="5" name="Image 0" descr="icons/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4550" y="654710"/>
            <a:ext cx="427939" cy="42793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1508760"/>
            <a:ext cx="6949440" cy="4663440"/>
          </a:xfrm>
          <a:prstGeom prst="roundRect">
            <a:avLst>
              <a:gd name="adj" fmla="val 1176"/>
            </a:avLst>
          </a:prstGeom>
          <a:solidFill>
            <a:srgbClr val="F6F4FC"/>
          </a:solidFill>
          <a:ln w="12700">
            <a:solidFill>
              <a:srgbClr val="C4B5FD"/>
            </a:solidFill>
            <a:prstDash val="solid"/>
          </a:ln>
        </p:spPr>
      </p:sp>
      <p:pic>
        <p:nvPicPr>
          <p:cNvPr id="7" name="Image 1" descr="deploy_0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5840" y="1691640"/>
            <a:ext cx="6583680" cy="42976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8001000" y="1508760"/>
            <a:ext cx="3383280" cy="4663440"/>
          </a:xfrm>
          <a:prstGeom prst="roundRect">
            <a:avLst>
              <a:gd name="adj" fmla="val 2703"/>
            </a:avLst>
          </a:prstGeom>
          <a:solidFill>
            <a:srgbClr val="4C1D95"/>
          </a:solidFill>
          <a:ln/>
        </p:spPr>
      </p:sp>
      <p:sp>
        <p:nvSpPr>
          <p:cNvPr id="9" name="Text 5"/>
          <p:cNvSpPr/>
          <p:nvPr/>
        </p:nvSpPr>
        <p:spPr>
          <a:xfrm>
            <a:off x="8229600" y="1737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Web App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229600" y="22402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selects a course from a dropdown and instantly sees the Top 5 recommended courses, computed live from the cosine similarity matrix.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0" y="3749040"/>
            <a:ext cx="292608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0" y="393192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Vectorization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pic>
        <p:nvPicPr>
          <p:cNvPr id="15" name="Image 0" descr="/home/claude/icons/rocket_violet.png">
            <a:extLst>
              <a:ext uri="{FF2B5EF4-FFF2-40B4-BE49-F238E27FC236}">
                <a16:creationId xmlns:a16="http://schemas.microsoft.com/office/drawing/2014/main" id="{BC1A3932-B61A-CA19-9C90-492A9AEDC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000" dirty="0"/>
          </a:p>
        </p:txBody>
      </p:sp>
      <p:pic>
        <p:nvPicPr>
          <p:cNvPr id="4" name="Image 0" descr="/home/claude/icons/balance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737360"/>
            <a:ext cx="3017520" cy="566928"/>
          </a:xfrm>
          <a:prstGeom prst="rect">
            <a:avLst/>
          </a:prstGeom>
          <a:solidFill>
            <a:srgbClr val="4C1D95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7373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566160" y="1737360"/>
            <a:ext cx="3566160" cy="566928"/>
          </a:xfrm>
          <a:prstGeom prst="rect">
            <a:avLst/>
          </a:prstGeom>
          <a:solidFill>
            <a:srgbClr val="4C1D95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703320" y="17373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132320" y="1737360"/>
            <a:ext cx="3566160" cy="566928"/>
          </a:xfrm>
          <a:prstGeom prst="rect">
            <a:avLst/>
          </a:prstGeom>
          <a:solidFill>
            <a:srgbClr val="4C1D95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269480" y="173736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304288"/>
            <a:ext cx="3017520" cy="566928"/>
          </a:xfrm>
          <a:prstGeom prst="rect">
            <a:avLst/>
          </a:prstGeom>
          <a:solidFill>
            <a:srgbClr val="EFEAFB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30428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566160" y="2304288"/>
            <a:ext cx="3566160" cy="566928"/>
          </a:xfrm>
          <a:prstGeom prst="rect">
            <a:avLst/>
          </a:prstGeom>
          <a:solidFill>
            <a:srgbClr val="FBFAFE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03320" y="230428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Features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132320" y="2304288"/>
            <a:ext cx="3566160" cy="566928"/>
          </a:xfrm>
          <a:prstGeom prst="rect">
            <a:avLst/>
          </a:prstGeom>
          <a:solidFill>
            <a:srgbClr val="FBFAFE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269480" y="230428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Ratings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871216"/>
            <a:ext cx="3017520" cy="566928"/>
          </a:xfrm>
          <a:prstGeom prst="rect">
            <a:avLst/>
          </a:prstGeom>
          <a:solidFill>
            <a:srgbClr val="EFEAFB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287121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566160" y="2871216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703320" y="287121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132320" y="2871216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69480" y="287121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User History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3438144"/>
            <a:ext cx="3017520" cy="566928"/>
          </a:xfrm>
          <a:prstGeom prst="rect">
            <a:avLst/>
          </a:prstGeom>
          <a:solidFill>
            <a:srgbClr val="EFEAFB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5800" y="343814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566160" y="3438144"/>
            <a:ext cx="3566160" cy="566928"/>
          </a:xfrm>
          <a:prstGeom prst="rect">
            <a:avLst/>
          </a:prstGeom>
          <a:solidFill>
            <a:srgbClr val="FBFAFE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703320" y="343814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New Users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7132320" y="3438144"/>
            <a:ext cx="3566160" cy="566928"/>
          </a:xfrm>
          <a:prstGeom prst="rect">
            <a:avLst/>
          </a:prstGeom>
          <a:solidFill>
            <a:srgbClr val="FBFAFE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269480" y="3438144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History First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548640" y="4005072"/>
            <a:ext cx="3017520" cy="566928"/>
          </a:xfrm>
          <a:prstGeom prst="rect">
            <a:avLst/>
          </a:prstGeom>
          <a:solidFill>
            <a:srgbClr val="EFEAFB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85800" y="400507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3566160" y="4005072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703320" y="400507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Implementation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132320" y="4005072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269480" y="4005072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48640" y="4572000"/>
            <a:ext cx="3017520" cy="566928"/>
          </a:xfrm>
          <a:prstGeom prst="rect">
            <a:avLst/>
          </a:prstGeom>
          <a:solidFill>
            <a:srgbClr val="EFEAFB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85800" y="45720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3566160" y="4572000"/>
            <a:ext cx="3566160" cy="566928"/>
          </a:xfrm>
          <a:prstGeom prst="rect">
            <a:avLst/>
          </a:prstGeom>
          <a:solidFill>
            <a:srgbClr val="FBFAFE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703320" y="45720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per Course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7132320" y="4572000"/>
            <a:ext cx="3566160" cy="566928"/>
          </a:xfrm>
          <a:prstGeom prst="rect">
            <a:avLst/>
          </a:prstGeom>
          <a:solidFill>
            <a:srgbClr val="FBFAFE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269480" y="4572000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548640" y="5138928"/>
            <a:ext cx="3017520" cy="566928"/>
          </a:xfrm>
          <a:prstGeom prst="rect">
            <a:avLst/>
          </a:prstGeom>
          <a:solidFill>
            <a:srgbClr val="EFEAFB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85800" y="513892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3566160" y="5138928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3703320" y="513892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300" dirty="0"/>
          </a:p>
        </p:txBody>
      </p:sp>
      <p:sp>
        <p:nvSpPr>
          <p:cNvPr id="45" name="Shape 42"/>
          <p:cNvSpPr/>
          <p:nvPr/>
        </p:nvSpPr>
        <p:spPr>
          <a:xfrm>
            <a:off x="7132320" y="5138928"/>
            <a:ext cx="35661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4DEF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269480" y="5138928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Accuracy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TOLD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pic>
        <p:nvPicPr>
          <p:cNvPr id="4" name="Image 0" descr="/home/claude/icons/bulb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4C1D95"/>
          </a:solidFill>
          <a:ln/>
        </p:spPr>
      </p:sp>
      <p:pic>
        <p:nvPicPr>
          <p:cNvPr id="6" name="Image 1" descr="/home/claude/icons/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56232"/>
            <a:ext cx="329184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" y="22402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contains 100,000 learner–course interactions.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3977640" y="1691640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1F1B2E"/>
          </a:solidFill>
          <a:ln/>
        </p:spPr>
      </p:sp>
      <p:pic>
        <p:nvPicPr>
          <p:cNvPr id="9" name="Image 2" descr="/home/claude/icons/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856232"/>
            <a:ext cx="329184" cy="3291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60520" y="22402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missing values and no duplicate records.</a:t>
            </a:r>
            <a:endParaRPr lang="en-US" sz="1250" dirty="0"/>
          </a:p>
        </p:txBody>
      </p:sp>
      <p:sp>
        <p:nvSpPr>
          <p:cNvPr id="11" name="Shape 6"/>
          <p:cNvSpPr/>
          <p:nvPr/>
        </p:nvSpPr>
        <p:spPr>
          <a:xfrm>
            <a:off x="7406640" y="1691640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4C1D95"/>
          </a:solidFill>
          <a:ln/>
        </p:spPr>
      </p:sp>
      <p:pic>
        <p:nvPicPr>
          <p:cNvPr id="12" name="Image 3" descr="/home/claude/icons/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856232"/>
            <a:ext cx="329184" cy="32918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89520" y="22402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courses dominate the platform.</a:t>
            </a:r>
            <a:endParaRPr lang="en-US" sz="1250" dirty="0"/>
          </a:p>
        </p:txBody>
      </p:sp>
      <p:sp>
        <p:nvSpPr>
          <p:cNvPr id="14" name="Shape 8"/>
          <p:cNvSpPr/>
          <p:nvPr/>
        </p:nvSpPr>
        <p:spPr>
          <a:xfrm>
            <a:off x="548640" y="3044952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1F1B2E"/>
          </a:solidFill>
          <a:ln/>
        </p:spPr>
      </p:sp>
      <p:pic>
        <p:nvPicPr>
          <p:cNvPr id="15" name="Image 4" descr="/home/claude/icons/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09544"/>
            <a:ext cx="329184" cy="32918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31520" y="3593592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increases learner interest.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3977640" y="3044952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4C1D95"/>
          </a:solidFill>
          <a:ln/>
        </p:spPr>
      </p:sp>
      <p:pic>
        <p:nvPicPr>
          <p:cNvPr id="18" name="Image 5" descr="/home/claude/icons/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3209544"/>
            <a:ext cx="329184" cy="32918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160520" y="3593592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are generally high across courses.</a:t>
            </a:r>
            <a:endParaRPr lang="en-US" sz="1250" dirty="0"/>
          </a:p>
        </p:txBody>
      </p:sp>
      <p:sp>
        <p:nvSpPr>
          <p:cNvPr id="20" name="Shape 12"/>
          <p:cNvSpPr/>
          <p:nvPr/>
        </p:nvSpPr>
        <p:spPr>
          <a:xfrm>
            <a:off x="7406640" y="3044952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1F1B2E"/>
          </a:solidFill>
          <a:ln/>
        </p:spPr>
      </p:sp>
      <p:pic>
        <p:nvPicPr>
          <p:cNvPr id="21" name="Image 6" descr="/home/claude/icons/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3209544"/>
            <a:ext cx="329184" cy="32918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589520" y="3593592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has minimal impact on popularity.</a:t>
            </a:r>
            <a:endParaRPr lang="en-US" sz="1250" dirty="0"/>
          </a:p>
        </p:txBody>
      </p:sp>
      <p:sp>
        <p:nvSpPr>
          <p:cNvPr id="23" name="Shape 14"/>
          <p:cNvSpPr/>
          <p:nvPr/>
        </p:nvSpPr>
        <p:spPr>
          <a:xfrm>
            <a:off x="548640" y="4398264"/>
            <a:ext cx="3246120" cy="1188720"/>
          </a:xfrm>
          <a:prstGeom prst="roundRect">
            <a:avLst>
              <a:gd name="adj" fmla="val 7692"/>
            </a:avLst>
          </a:prstGeom>
          <a:solidFill>
            <a:srgbClr val="4C1D95"/>
          </a:solidFill>
          <a:ln/>
        </p:spPr>
      </p:sp>
      <p:pic>
        <p:nvPicPr>
          <p:cNvPr id="24" name="Image 7" descr="/home/claude/icons/che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62856"/>
            <a:ext cx="329184" cy="32918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31520" y="4946904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recommendation system performs effectively.</a:t>
            </a:r>
            <a:endParaRPr lang="en-US" sz="1250" dirty="0"/>
          </a:p>
        </p:txBody>
      </p:sp>
      <p:sp>
        <p:nvSpPr>
          <p:cNvPr id="26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27" name="Text 17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COULD GO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pic>
        <p:nvPicPr>
          <p:cNvPr id="4" name="Image 0" descr="/home/claude/icons/rocket_viol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502920"/>
            <a:ext cx="502920" cy="502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blurRad="63500" dist="25400" dir="5400000" algn="bl" rotWithShape="0">
              <a:srgbClr val="3A2E5C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49808" y="1874520"/>
            <a:ext cx="502920" cy="502920"/>
          </a:xfrm>
          <a:prstGeom prst="ellipse">
            <a:avLst/>
          </a:prstGeom>
          <a:solidFill>
            <a:srgbClr val="EFEAFB"/>
          </a:solidFill>
          <a:ln/>
        </p:spPr>
      </p:sp>
      <p:pic>
        <p:nvPicPr>
          <p:cNvPr id="7" name="Image 1" descr="/home/claude/icons/cogs_viol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1984248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2468880"/>
            <a:ext cx="2843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Recommendation System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3977640" y="169164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blurRad="63500" dist="25400" dir="5400000" algn="bl" rotWithShape="0">
              <a:srgbClr val="3A2E5C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178808" y="1874520"/>
            <a:ext cx="502920" cy="502920"/>
          </a:xfrm>
          <a:prstGeom prst="ellipse">
            <a:avLst/>
          </a:prstGeom>
          <a:solidFill>
            <a:srgbClr val="EFEAFB"/>
          </a:solidFill>
          <a:ln/>
        </p:spPr>
      </p:sp>
      <p:pic>
        <p:nvPicPr>
          <p:cNvPr id="11" name="Image 2" descr="/home/claude/icons/brain_viol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536" y="198424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78808" y="2468880"/>
            <a:ext cx="2843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406640" y="169164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blurRad="63500" dist="25400" dir="5400000" algn="bl" rotWithShape="0">
              <a:srgbClr val="3A2E5C">
                <a:alpha val="12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607808" y="1874520"/>
            <a:ext cx="502920" cy="502920"/>
          </a:xfrm>
          <a:prstGeom prst="ellipse">
            <a:avLst/>
          </a:prstGeom>
          <a:solidFill>
            <a:srgbClr val="EFEAFB"/>
          </a:solidFill>
          <a:ln/>
        </p:spPr>
      </p:sp>
      <p:pic>
        <p:nvPicPr>
          <p:cNvPr id="15" name="Image 3" descr="/home/claude/icons/chartline_viol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7536" y="1984248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607808" y="2468880"/>
            <a:ext cx="2843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Recommendation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324612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blurRad="63500" dist="25400" dir="5400000" algn="bl" rotWithShape="0">
              <a:srgbClr val="3A2E5C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49808" y="3429000"/>
            <a:ext cx="502920" cy="502920"/>
          </a:xfrm>
          <a:prstGeom prst="ellipse">
            <a:avLst/>
          </a:prstGeom>
          <a:solidFill>
            <a:srgbClr val="EFEAFB"/>
          </a:solidFill>
          <a:ln/>
        </p:spPr>
      </p:sp>
      <p:pic>
        <p:nvPicPr>
          <p:cNvPr id="19" name="Image 4" descr="/home/claude/icons/sitemap_viol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3538728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49808" y="4023360"/>
            <a:ext cx="2843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Paths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3977640" y="324612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blurRad="63500" dist="25400" dir="5400000" algn="bl" rotWithShape="0">
              <a:srgbClr val="3A2E5C">
                <a:alpha val="12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4178808" y="3429000"/>
            <a:ext cx="502920" cy="502920"/>
          </a:xfrm>
          <a:prstGeom prst="ellipse">
            <a:avLst/>
          </a:prstGeom>
          <a:solidFill>
            <a:srgbClr val="EFEAFB"/>
          </a:solidFill>
          <a:ln/>
        </p:spPr>
      </p:sp>
      <p:pic>
        <p:nvPicPr>
          <p:cNvPr id="23" name="Image 5" descr="/home/claude/icons/mobile_viol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8536" y="3538728"/>
            <a:ext cx="292608" cy="29260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178808" y="4023360"/>
            <a:ext cx="2843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300" dirty="0"/>
          </a:p>
        </p:txBody>
      </p:sp>
      <p:sp>
        <p:nvSpPr>
          <p:cNvPr id="25" name="Shape 17"/>
          <p:cNvSpPr/>
          <p:nvPr/>
        </p:nvSpPr>
        <p:spPr>
          <a:xfrm>
            <a:off x="7406640" y="324612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blurRad="63500" dist="25400" dir="5400000" algn="bl" rotWithShape="0">
              <a:srgbClr val="3A2E5C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607808" y="3429000"/>
            <a:ext cx="502920" cy="502920"/>
          </a:xfrm>
          <a:prstGeom prst="ellipse">
            <a:avLst/>
          </a:prstGeom>
          <a:solidFill>
            <a:srgbClr val="EFEAFB"/>
          </a:solidFill>
          <a:ln/>
        </p:spPr>
      </p:sp>
      <p:pic>
        <p:nvPicPr>
          <p:cNvPr id="27" name="Image 6" descr="/home/claude/icons/cloud_viol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7536" y="3538728"/>
            <a:ext cx="292608" cy="29260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607808" y="4023360"/>
            <a:ext cx="2843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548640" y="4800600"/>
            <a:ext cx="3246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DEF7"/>
            </a:solidFill>
            <a:prstDash val="solid"/>
          </a:ln>
          <a:effectLst>
            <a:outerShdw blurRad="63500" dist="25400" dir="5400000" algn="bl" rotWithShape="0">
              <a:srgbClr val="3A2E5C">
                <a:alpha val="12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749808" y="4983480"/>
            <a:ext cx="502920" cy="502920"/>
          </a:xfrm>
          <a:prstGeom prst="ellipse">
            <a:avLst/>
          </a:prstGeom>
          <a:solidFill>
            <a:srgbClr val="EFEAFB"/>
          </a:solidFill>
          <a:ln/>
        </p:spPr>
      </p:sp>
      <p:pic>
        <p:nvPicPr>
          <p:cNvPr id="31" name="Image 7" descr="/home/claude/icons/comments_viole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536" y="5093208"/>
            <a:ext cx="292608" cy="29260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49808" y="5577840"/>
            <a:ext cx="28437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Integration</a:t>
            </a:r>
            <a:endParaRPr lang="en-US" sz="1300" dirty="0"/>
          </a:p>
        </p:txBody>
      </p:sp>
      <p:sp>
        <p:nvSpPr>
          <p:cNvPr id="33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4C1D95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an Online Course Recommendation System using: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94360" y="2240280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214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697480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5786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94360" y="3154680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0358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94360" y="3611880"/>
            <a:ext cx="118872" cy="1188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4930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10149840" cy="1463040"/>
          </a:xfrm>
          <a:prstGeom prst="roundRect">
            <a:avLst>
              <a:gd name="adj" fmla="val 7500"/>
            </a:avLst>
          </a:prstGeom>
          <a:solidFill>
            <a:srgbClr val="4C1D9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206240"/>
            <a:ext cx="9418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provides personalized course recommendations that improve learner experience and simplify course selection.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COURSE RECOMMENDATION SYSTEM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4C1D9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265176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1294</Words>
  <Application>Microsoft Office PowerPoint</Application>
  <PresentationFormat>Widescreen</PresentationFormat>
  <Paragraphs>346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Ankita Gouda</cp:lastModifiedBy>
  <cp:revision>3</cp:revision>
  <dcterms:created xsi:type="dcterms:W3CDTF">2026-07-10T09:07:18Z</dcterms:created>
  <dcterms:modified xsi:type="dcterms:W3CDTF">2026-07-10T09:32:04Z</dcterms:modified>
</cp:coreProperties>
</file>